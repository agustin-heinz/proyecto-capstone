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Grotesk" charset="1" panose="00000500000000000000"/>
      <p:regular r:id="rId15"/>
    </p:embeddedFont>
    <p:embeddedFont>
      <p:font typeface="HK Grotesk Bold" charset="1" panose="00000800000000000000"/>
      <p:regular r:id="rId16"/>
    </p:embeddedFont>
    <p:embeddedFont>
      <p:font typeface="Roboto" charset="1" panose="02000000000000000000"/>
      <p:regular r:id="rId17"/>
    </p:embeddedFont>
    <p:embeddedFont>
      <p:font typeface="Roboto Bold" charset="1" panose="02000000000000000000"/>
      <p:regular r:id="rId18"/>
    </p:embeddedFont>
    <p:embeddedFont>
      <p:font typeface="HK Grotesk Medium" charset="1" panose="000006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5250" cy="10287000"/>
            <a:chOff x="0" y="0"/>
            <a:chExt cx="127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7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5500" y="0"/>
            <a:ext cx="4762500" cy="10287000"/>
            <a:chOff x="0" y="0"/>
            <a:chExt cx="6350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FF">
                <a:alpha val="1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1866900"/>
            <a:ext cx="762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AE8FF"/>
                </a:solidFill>
                <a:latin typeface="HK Grotesk"/>
                <a:ea typeface="HK Grotesk"/>
                <a:cs typeface="HK Grotesk"/>
                <a:sym typeface="HK Grotesk"/>
              </a:rPr>
              <a:t>PROPUESTA DE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552700"/>
            <a:ext cx="114300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b="true" sz="1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FonoTrack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4276725"/>
            <a:ext cx="857250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CAE8FF"/>
                </a:solidFill>
                <a:latin typeface="HK Grotesk"/>
                <a:ea typeface="HK Grotesk"/>
                <a:cs typeface="HK Grotesk"/>
                <a:sym typeface="HK Grotesk"/>
              </a:rPr>
              <a:t>Sistema integral de autogestión para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CAE8FF"/>
                </a:solidFill>
                <a:latin typeface="HK Grotesk"/>
                <a:ea typeface="HK Grotesk"/>
                <a:cs typeface="HK Grotesk"/>
                <a:sym typeface="HK Grotesk"/>
              </a:rPr>
              <a:t>pacientes y fonoaudiólogos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143000" y="5581650"/>
            <a:ext cx="2857500" cy="0"/>
          </a:xfrm>
          <a:prstGeom prst="line">
            <a:avLst/>
          </a:prstGeom>
          <a:ln cap="flat" w="38100">
            <a:solidFill>
              <a:srgbClr val="233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143000" y="9158288"/>
            <a:ext cx="571500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AE8FF">
                    <a:alpha val="6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Agustín Heinz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AE8FF">
                    <a:alpha val="6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Diego Sepulveda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4350" y="501322"/>
            <a:ext cx="6348228" cy="9271328"/>
            <a:chOff x="0" y="0"/>
            <a:chExt cx="983507" cy="143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59602" t="0" r="-5960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4350" y="514350"/>
            <a:ext cx="6348228" cy="9258300"/>
            <a:chOff x="0" y="0"/>
            <a:chExt cx="1671961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271FF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71961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95577"/>
            <a:ext cx="1034318" cy="103431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E8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9064" lIns="89064" bIns="89064" rIns="89064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973283"/>
            <a:ext cx="1034318" cy="103431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E8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89064" lIns="89064" bIns="89064" rIns="89064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7154799"/>
            <a:ext cx="1034318" cy="103431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E8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89064" lIns="89064" bIns="89064" rIns="89064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38087" y="3004964"/>
            <a:ext cx="615544" cy="615544"/>
          </a:xfrm>
          <a:custGeom>
            <a:avLst/>
            <a:gdLst/>
            <a:ahLst/>
            <a:cxnLst/>
            <a:rect r="r" b="b" t="t" l="l"/>
            <a:pathLst>
              <a:path h="615544" w="615544">
                <a:moveTo>
                  <a:pt x="0" y="0"/>
                </a:moveTo>
                <a:lnTo>
                  <a:pt x="615544" y="0"/>
                </a:lnTo>
                <a:lnTo>
                  <a:pt x="615544" y="615543"/>
                </a:lnTo>
                <a:lnTo>
                  <a:pt x="0" y="615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8087" y="7360150"/>
            <a:ext cx="644681" cy="618894"/>
          </a:xfrm>
          <a:custGeom>
            <a:avLst/>
            <a:gdLst/>
            <a:ahLst/>
            <a:cxnLst/>
            <a:rect r="r" b="b" t="t" l="l"/>
            <a:pathLst>
              <a:path h="618894" w="644681">
                <a:moveTo>
                  <a:pt x="0" y="0"/>
                </a:moveTo>
                <a:lnTo>
                  <a:pt x="644681" y="0"/>
                </a:lnTo>
                <a:lnTo>
                  <a:pt x="644681" y="618894"/>
                </a:lnTo>
                <a:lnTo>
                  <a:pt x="0" y="6188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49466" y="3444088"/>
            <a:ext cx="9194097" cy="515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4"/>
              </a:lnSpc>
            </a:pP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Los </a:t>
            </a:r>
            <a:r>
              <a:rPr lang="en-US" sz="3287" b="true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fonoaudiólogos con prácticas independientes</a:t>
            </a: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 enfrentan </a:t>
            </a:r>
            <a:r>
              <a:rPr lang="en-US" sz="3287" b="true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problemas administrativos</a:t>
            </a: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 como la programación de citas (frecuentemente realizada de forma manual y analógica), seguimiento y confirmación de las mismas, y visibilidad pública de su paquete de prestaciones.</a:t>
            </a:r>
          </a:p>
          <a:p>
            <a:pPr algn="just">
              <a:lnSpc>
                <a:spcPts val="3714"/>
              </a:lnSpc>
            </a:pPr>
          </a:p>
          <a:p>
            <a:pPr algn="just">
              <a:lnSpc>
                <a:spcPts val="3714"/>
              </a:lnSpc>
            </a:pP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Esta área de profesionales </a:t>
            </a:r>
            <a:r>
              <a:rPr lang="en-US" sz="3287" b="true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carece de acceso</a:t>
            </a: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 a herramientas digitales </a:t>
            </a:r>
            <a:r>
              <a:rPr lang="en-US" sz="3287" b="true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accesibles</a:t>
            </a: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3287" b="true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unificadas</a:t>
            </a:r>
            <a:r>
              <a:rPr lang="en-US" sz="3287">
                <a:solidFill>
                  <a:srgbClr val="050A30"/>
                </a:solidFill>
                <a:latin typeface="Roboto"/>
                <a:ea typeface="Roboto"/>
                <a:cs typeface="Roboto"/>
                <a:sym typeface="Roboto"/>
              </a:rPr>
              <a:t> para </a:t>
            </a:r>
            <a:r>
              <a:rPr lang="en-US" sz="3287" b="true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manejar su consulta.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38087" y="5157760"/>
            <a:ext cx="560739" cy="700924"/>
          </a:xfrm>
          <a:custGeom>
            <a:avLst/>
            <a:gdLst/>
            <a:ahLst/>
            <a:cxnLst/>
            <a:rect r="r" b="b" t="t" l="l"/>
            <a:pathLst>
              <a:path h="700924" w="560739">
                <a:moveTo>
                  <a:pt x="0" y="0"/>
                </a:moveTo>
                <a:lnTo>
                  <a:pt x="560739" y="0"/>
                </a:lnTo>
                <a:lnTo>
                  <a:pt x="560739" y="700924"/>
                </a:lnTo>
                <a:lnTo>
                  <a:pt x="0" y="700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649865" y="1152525"/>
            <a:ext cx="7593299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b="true" sz="7500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Problemática</a:t>
            </a:r>
          </a:p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50A30"/>
                </a:solidFill>
                <a:latin typeface="Roboto Bold"/>
                <a:ea typeface="Roboto Bold"/>
                <a:cs typeface="Roboto Bold"/>
                <a:sym typeface="Roboto Bold"/>
              </a:rPr>
              <a:t>principal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5278" y="1328158"/>
            <a:ext cx="4706372" cy="46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4"/>
              </a:lnSpc>
              <a:spcBef>
                <a:spcPct val="0"/>
              </a:spcBef>
            </a:pPr>
            <a:r>
              <a:rPr lang="en-US" b="true" sz="345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Dificultades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91669" y="3060006"/>
            <a:ext cx="418934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b="true" sz="2700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gendamiento de horas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91669" y="7190628"/>
            <a:ext cx="443390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Inasistencias por falta de seguimiento de sesiones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91669" y="5009112"/>
            <a:ext cx="467090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Registro manual de fichas clínicas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1600" cy="1374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2581275"/>
            <a:ext cx="7810500" cy="2667000"/>
            <a:chOff x="0" y="0"/>
            <a:chExt cx="10414000" cy="355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355600" y="0"/>
                  </a:moveTo>
                  <a:lnTo>
                    <a:pt x="10058400" y="0"/>
                  </a:lnTo>
                  <a:cubicBezTo>
                    <a:pt x="10254793" y="0"/>
                    <a:pt x="10414000" y="159208"/>
                    <a:pt x="10414000" y="355600"/>
                  </a:cubicBezTo>
                  <a:lnTo>
                    <a:pt x="10414000" y="3200400"/>
                  </a:lnTo>
                  <a:cubicBezTo>
                    <a:pt x="10414000" y="3396792"/>
                    <a:pt x="10254793" y="3556000"/>
                    <a:pt x="1005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CAE8FF"/>
            </a:solidFill>
            <a:ln w="9525" cap="sq">
              <a:solidFill>
                <a:srgbClr val="3A3F6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414000" cy="358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8250" y="2867025"/>
            <a:ext cx="476250" cy="476250"/>
            <a:chOff x="0" y="0"/>
            <a:chExt cx="635000" cy="63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5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34500" y="2581275"/>
            <a:ext cx="7810500" cy="2667000"/>
            <a:chOff x="0" y="0"/>
            <a:chExt cx="10414000" cy="355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355600" y="0"/>
                  </a:moveTo>
                  <a:lnTo>
                    <a:pt x="10058400" y="0"/>
                  </a:lnTo>
                  <a:cubicBezTo>
                    <a:pt x="10254793" y="0"/>
                    <a:pt x="10414000" y="159208"/>
                    <a:pt x="10414000" y="355600"/>
                  </a:cubicBezTo>
                  <a:lnTo>
                    <a:pt x="10414000" y="3200400"/>
                  </a:lnTo>
                  <a:cubicBezTo>
                    <a:pt x="10414000" y="3396792"/>
                    <a:pt x="10254793" y="3556000"/>
                    <a:pt x="1005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CAE8FF"/>
            </a:solidFill>
            <a:ln w="9525" cap="sq">
              <a:solidFill>
                <a:srgbClr val="3A3F6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414000" cy="358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20250" y="2867025"/>
            <a:ext cx="476250" cy="476250"/>
            <a:chOff x="0" y="0"/>
            <a:chExt cx="635000" cy="63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35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5629275"/>
            <a:ext cx="7810500" cy="2667000"/>
            <a:chOff x="0" y="0"/>
            <a:chExt cx="10414000" cy="355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355600" y="0"/>
                  </a:moveTo>
                  <a:lnTo>
                    <a:pt x="10058400" y="0"/>
                  </a:lnTo>
                  <a:cubicBezTo>
                    <a:pt x="10254793" y="0"/>
                    <a:pt x="10414000" y="159208"/>
                    <a:pt x="10414000" y="355600"/>
                  </a:cubicBezTo>
                  <a:lnTo>
                    <a:pt x="10414000" y="3200400"/>
                  </a:lnTo>
                  <a:cubicBezTo>
                    <a:pt x="10414000" y="3396792"/>
                    <a:pt x="10254793" y="3556000"/>
                    <a:pt x="1005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CAE8FF"/>
            </a:solidFill>
            <a:ln w="9525" cap="sq">
              <a:solidFill>
                <a:srgbClr val="3A3F6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414000" cy="358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8250" y="5915025"/>
            <a:ext cx="476250" cy="476250"/>
            <a:chOff x="0" y="0"/>
            <a:chExt cx="635000" cy="63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5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4500" y="5629275"/>
            <a:ext cx="7810500" cy="2667000"/>
            <a:chOff x="0" y="0"/>
            <a:chExt cx="10414000" cy="355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355600" y="0"/>
                  </a:moveTo>
                  <a:lnTo>
                    <a:pt x="10058400" y="0"/>
                  </a:lnTo>
                  <a:cubicBezTo>
                    <a:pt x="10254793" y="0"/>
                    <a:pt x="10414000" y="159208"/>
                    <a:pt x="10414000" y="355600"/>
                  </a:cubicBezTo>
                  <a:lnTo>
                    <a:pt x="10414000" y="3200400"/>
                  </a:lnTo>
                  <a:cubicBezTo>
                    <a:pt x="10414000" y="3396792"/>
                    <a:pt x="10254793" y="3556000"/>
                    <a:pt x="1005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CAE8FF"/>
            </a:solidFill>
            <a:ln w="9525" cap="sq">
              <a:solidFill>
                <a:srgbClr val="3A3F6B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414000" cy="358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20250" y="5915025"/>
            <a:ext cx="476250" cy="476250"/>
            <a:chOff x="0" y="0"/>
            <a:chExt cx="635000" cy="63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35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656681" y="5937435"/>
            <a:ext cx="403388" cy="431431"/>
          </a:xfrm>
          <a:custGeom>
            <a:avLst/>
            <a:gdLst/>
            <a:ahLst/>
            <a:cxnLst/>
            <a:rect r="r" b="b" t="t" l="l"/>
            <a:pathLst>
              <a:path h="431431" w="403388">
                <a:moveTo>
                  <a:pt x="0" y="0"/>
                </a:moveTo>
                <a:lnTo>
                  <a:pt x="403388" y="0"/>
                </a:lnTo>
                <a:lnTo>
                  <a:pt x="403388" y="431430"/>
                </a:lnTo>
                <a:lnTo>
                  <a:pt x="0" y="43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656681" y="2951763"/>
            <a:ext cx="395837" cy="306774"/>
          </a:xfrm>
          <a:custGeom>
            <a:avLst/>
            <a:gdLst/>
            <a:ahLst/>
            <a:cxnLst/>
            <a:rect r="r" b="b" t="t" l="l"/>
            <a:pathLst>
              <a:path h="306774" w="395837">
                <a:moveTo>
                  <a:pt x="0" y="0"/>
                </a:moveTo>
                <a:lnTo>
                  <a:pt x="395837" y="0"/>
                </a:lnTo>
                <a:lnTo>
                  <a:pt x="395837" y="306774"/>
                </a:lnTo>
                <a:lnTo>
                  <a:pt x="0" y="306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52138" y="2867025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4240" y="5972175"/>
            <a:ext cx="462160" cy="390525"/>
          </a:xfrm>
          <a:custGeom>
            <a:avLst/>
            <a:gdLst/>
            <a:ahLst/>
            <a:cxnLst/>
            <a:rect r="r" b="b" t="t" l="l"/>
            <a:pathLst>
              <a:path h="390525" w="462160">
                <a:moveTo>
                  <a:pt x="0" y="0"/>
                </a:moveTo>
                <a:lnTo>
                  <a:pt x="462160" y="0"/>
                </a:lnTo>
                <a:lnTo>
                  <a:pt x="46216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2500" y="819150"/>
            <a:ext cx="7620000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9"/>
              </a:lnSpc>
            </a:pPr>
            <a:r>
              <a:rPr lang="en-US" b="true" sz="57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FonoTrack?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2500" y="1701482"/>
            <a:ext cx="857250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Sistema integral de autogestión para pacientes y fonoaudiólogos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05000" y="2924175"/>
            <a:ext cx="6572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AGENDAMIENTO ONLINE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8250" y="3352800"/>
            <a:ext cx="72390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12229D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Pacientes y profesionales pueden agendar, modificar y cancelar horas de forma autónoma desde cualquier dispositivo.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0" y="2924175"/>
            <a:ext cx="6572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FICHAS CLÍNICAS DIGITALES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20250" y="3352800"/>
            <a:ext cx="72390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12229D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Acceso centralizado a fichas de evaluación, evolución y planes de tratamiento de cada paciente, priorizando la confidencialidad.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05000" y="5972175"/>
            <a:ext cx="6572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DASHBOARDS ESTADÍSTICOS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8250" y="6457950"/>
            <a:ext cx="72390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12229D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Visualización de métricas claves para el profesional: asistencia, avance terapéutico y carga horaria en tiempo real.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0" y="5972175"/>
            <a:ext cx="6572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192">
                <a:solidFill>
                  <a:srgbClr val="12229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 AUTOMÁTICOS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20250" y="6457950"/>
            <a:ext cx="72390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>
                <a:solidFill>
                  <a:srgbClr val="12229D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Notificaciones al paciente de próximas sesiones para reducir inasistencias y mejorar la adherencia al tratamiento.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4850" y="704850"/>
            <a:ext cx="8343900" cy="4343400"/>
          </a:xfrm>
          <a:custGeom>
            <a:avLst/>
            <a:gdLst/>
            <a:ahLst/>
            <a:cxnLst/>
            <a:rect r="r" b="b" t="t" l="l"/>
            <a:pathLst>
              <a:path h="4343400" w="8343900">
                <a:moveTo>
                  <a:pt x="0" y="0"/>
                </a:moveTo>
                <a:lnTo>
                  <a:pt x="8343900" y="0"/>
                </a:lnTo>
                <a:lnTo>
                  <a:pt x="8343900" y="4343400"/>
                </a:lnTo>
                <a:lnTo>
                  <a:pt x="0" y="434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330" r="0" b="-3233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39250" y="704850"/>
            <a:ext cx="8343900" cy="4319443"/>
          </a:xfrm>
          <a:custGeom>
            <a:avLst/>
            <a:gdLst/>
            <a:ahLst/>
            <a:cxnLst/>
            <a:rect r="r" b="b" t="t" l="l"/>
            <a:pathLst>
              <a:path h="4319443" w="8343900">
                <a:moveTo>
                  <a:pt x="0" y="0"/>
                </a:moveTo>
                <a:lnTo>
                  <a:pt x="8343900" y="0"/>
                </a:lnTo>
                <a:lnTo>
                  <a:pt x="8343900" y="4319443"/>
                </a:lnTo>
                <a:lnTo>
                  <a:pt x="0" y="4319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4850" y="5238750"/>
            <a:ext cx="16878300" cy="4342334"/>
          </a:xfrm>
          <a:custGeom>
            <a:avLst/>
            <a:gdLst/>
            <a:ahLst/>
            <a:cxnLst/>
            <a:rect r="r" b="b" t="t" l="l"/>
            <a:pathLst>
              <a:path h="4342334" w="16878300">
                <a:moveTo>
                  <a:pt x="0" y="0"/>
                </a:moveTo>
                <a:lnTo>
                  <a:pt x="16878300" y="0"/>
                </a:lnTo>
                <a:lnTo>
                  <a:pt x="16878300" y="4342334"/>
                </a:lnTo>
                <a:lnTo>
                  <a:pt x="0" y="4342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9806" r="0" b="-4983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23012400" cy="1234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12344400"/>
            </a:xfrm>
            <a:custGeom>
              <a:avLst/>
              <a:gdLst/>
              <a:ahLst/>
              <a:cxnLst/>
              <a:rect r="r" b="b" t="t" l="l"/>
              <a:pathLst>
                <a:path h="123444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12344400"/>
                  </a:lnTo>
                  <a:lnTo>
                    <a:pt x="0" y="123444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12400" cy="1238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4850" y="1724025"/>
            <a:ext cx="8296275" cy="7667625"/>
            <a:chOff x="0" y="0"/>
            <a:chExt cx="11061700" cy="1022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61700" cy="10223500"/>
            </a:xfrm>
            <a:custGeom>
              <a:avLst/>
              <a:gdLst/>
              <a:ahLst/>
              <a:cxnLst/>
              <a:rect r="r" b="b" t="t" l="l"/>
              <a:pathLst>
                <a:path h="10223500" w="11061700">
                  <a:moveTo>
                    <a:pt x="1022350" y="0"/>
                  </a:moveTo>
                  <a:lnTo>
                    <a:pt x="10039350" y="0"/>
                  </a:lnTo>
                  <a:cubicBezTo>
                    <a:pt x="10603978" y="0"/>
                    <a:pt x="11061700" y="457722"/>
                    <a:pt x="11061700" y="1022350"/>
                  </a:cubicBezTo>
                  <a:lnTo>
                    <a:pt x="11061700" y="9201150"/>
                  </a:lnTo>
                  <a:cubicBezTo>
                    <a:pt x="11061700" y="9765778"/>
                    <a:pt x="10603978" y="10223500"/>
                    <a:pt x="10039350" y="10223500"/>
                  </a:cubicBezTo>
                  <a:lnTo>
                    <a:pt x="1022350" y="10223500"/>
                  </a:lnTo>
                  <a:cubicBezTo>
                    <a:pt x="457722" y="10223500"/>
                    <a:pt x="0" y="9765778"/>
                    <a:pt x="0" y="9201150"/>
                  </a:cubicBezTo>
                  <a:lnTo>
                    <a:pt x="0" y="1022350"/>
                  </a:lnTo>
                  <a:cubicBezTo>
                    <a:pt x="0" y="457722"/>
                    <a:pt x="457722" y="0"/>
                    <a:pt x="1022350" y="0"/>
                  </a:cubicBezTo>
                  <a:close/>
                </a:path>
              </a:pathLst>
            </a:custGeom>
            <a:blipFill>
              <a:blip r:embed="rId2"/>
              <a:stretch>
                <a:fillRect l="-683" t="0" r="-68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86875" y="1724025"/>
            <a:ext cx="8296275" cy="7667625"/>
            <a:chOff x="0" y="0"/>
            <a:chExt cx="11061700" cy="1022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61700" cy="10223500"/>
            </a:xfrm>
            <a:custGeom>
              <a:avLst/>
              <a:gdLst/>
              <a:ahLst/>
              <a:cxnLst/>
              <a:rect r="r" b="b" t="t" l="l"/>
              <a:pathLst>
                <a:path h="10223500" w="11061700">
                  <a:moveTo>
                    <a:pt x="1022350" y="0"/>
                  </a:moveTo>
                  <a:lnTo>
                    <a:pt x="10039350" y="0"/>
                  </a:lnTo>
                  <a:cubicBezTo>
                    <a:pt x="10603978" y="0"/>
                    <a:pt x="11061700" y="457722"/>
                    <a:pt x="11061700" y="1022350"/>
                  </a:cubicBezTo>
                  <a:lnTo>
                    <a:pt x="11061700" y="9201150"/>
                  </a:lnTo>
                  <a:cubicBezTo>
                    <a:pt x="11061700" y="9765778"/>
                    <a:pt x="10603978" y="10223500"/>
                    <a:pt x="10039350" y="10223500"/>
                  </a:cubicBezTo>
                  <a:lnTo>
                    <a:pt x="1022350" y="10223500"/>
                  </a:lnTo>
                  <a:cubicBezTo>
                    <a:pt x="457722" y="10223500"/>
                    <a:pt x="0" y="9765778"/>
                    <a:pt x="0" y="9201150"/>
                  </a:cubicBezTo>
                  <a:lnTo>
                    <a:pt x="0" y="1022350"/>
                  </a:lnTo>
                  <a:cubicBezTo>
                    <a:pt x="0" y="457722"/>
                    <a:pt x="457722" y="0"/>
                    <a:pt x="1022350" y="0"/>
                  </a:cubicBezTo>
                  <a:close/>
                </a:path>
              </a:pathLst>
            </a:custGeom>
            <a:blipFill>
              <a:blip r:embed="rId3"/>
              <a:stretch>
                <a:fillRect l="-5634" t="0" r="-563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429000" y="790575"/>
            <a:ext cx="11430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12229D"/>
                </a:solidFill>
                <a:latin typeface="Roboto Bold"/>
                <a:ea typeface="Roboto Bold"/>
                <a:cs typeface="Roboto Bold"/>
                <a:sym typeface="Roboto Bold"/>
              </a:rPr>
              <a:t>Perspectiva del paciente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4416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13836" y="1313823"/>
            <a:ext cx="7721794" cy="7659354"/>
          </a:xfrm>
          <a:custGeom>
            <a:avLst/>
            <a:gdLst/>
            <a:ahLst/>
            <a:cxnLst/>
            <a:rect r="r" b="b" t="t" l="l"/>
            <a:pathLst>
              <a:path h="7659354" w="7721794">
                <a:moveTo>
                  <a:pt x="0" y="0"/>
                </a:moveTo>
                <a:lnTo>
                  <a:pt x="7721794" y="0"/>
                </a:lnTo>
                <a:lnTo>
                  <a:pt x="7721794" y="7659354"/>
                </a:lnTo>
                <a:lnTo>
                  <a:pt x="0" y="7659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77228" y="666123"/>
            <a:ext cx="497401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2229D"/>
                </a:solidFill>
                <a:latin typeface="Roboto Bold"/>
                <a:ea typeface="Roboto Bold"/>
                <a:cs typeface="Roboto Bold"/>
                <a:sym typeface="Roboto Bold"/>
              </a:rPr>
              <a:t>TOMA DE HORAS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29000" y="695325"/>
            <a:ext cx="11430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12229D"/>
                </a:solidFill>
                <a:latin typeface="Roboto Bold"/>
                <a:ea typeface="Roboto Bold"/>
                <a:cs typeface="Roboto Bold"/>
                <a:sym typeface="Roboto Bold"/>
              </a:rPr>
              <a:t>PERSPECTIVA FONOAUDIÓLOGO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62000" y="1524000"/>
            <a:ext cx="8239125" cy="7810500"/>
            <a:chOff x="0" y="0"/>
            <a:chExt cx="10985500" cy="1041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0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0985500">
                  <a:moveTo>
                    <a:pt x="1041400" y="0"/>
                  </a:moveTo>
                  <a:lnTo>
                    <a:pt x="9944100" y="0"/>
                  </a:lnTo>
                  <a:cubicBezTo>
                    <a:pt x="10519249" y="0"/>
                    <a:pt x="10985500" y="466251"/>
                    <a:pt x="10985500" y="1041400"/>
                  </a:cubicBezTo>
                  <a:lnTo>
                    <a:pt x="10985500" y="9372600"/>
                  </a:lnTo>
                  <a:cubicBezTo>
                    <a:pt x="10985500" y="9947749"/>
                    <a:pt x="10519249" y="10414000"/>
                    <a:pt x="9944100" y="10414000"/>
                  </a:cubicBezTo>
                  <a:lnTo>
                    <a:pt x="1041400" y="10414000"/>
                  </a:lnTo>
                  <a:cubicBezTo>
                    <a:pt x="466251" y="10414000"/>
                    <a:pt x="0" y="9947749"/>
                    <a:pt x="0" y="9372600"/>
                  </a:cubicBezTo>
                  <a:lnTo>
                    <a:pt x="0" y="1041400"/>
                  </a:lnTo>
                  <a:cubicBezTo>
                    <a:pt x="0" y="466251"/>
                    <a:pt x="466251" y="0"/>
                    <a:pt x="1041400" y="0"/>
                  </a:cubicBezTo>
                  <a:close/>
                </a:path>
              </a:pathLst>
            </a:custGeom>
            <a:blipFill>
              <a:blip r:embed="rId2"/>
              <a:stretch>
                <a:fillRect l="-25536" t="0" r="-255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1524000"/>
            <a:ext cx="8239125" cy="7810500"/>
            <a:chOff x="0" y="0"/>
            <a:chExt cx="10985500" cy="1041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8550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0985500">
                  <a:moveTo>
                    <a:pt x="1041400" y="0"/>
                  </a:moveTo>
                  <a:lnTo>
                    <a:pt x="9944100" y="0"/>
                  </a:lnTo>
                  <a:cubicBezTo>
                    <a:pt x="10519249" y="0"/>
                    <a:pt x="10985500" y="466251"/>
                    <a:pt x="10985500" y="1041400"/>
                  </a:cubicBezTo>
                  <a:lnTo>
                    <a:pt x="10985500" y="9372600"/>
                  </a:lnTo>
                  <a:cubicBezTo>
                    <a:pt x="10985500" y="9947749"/>
                    <a:pt x="10519249" y="10414000"/>
                    <a:pt x="9944100" y="10414000"/>
                  </a:cubicBezTo>
                  <a:lnTo>
                    <a:pt x="1041400" y="10414000"/>
                  </a:lnTo>
                  <a:cubicBezTo>
                    <a:pt x="466251" y="10414000"/>
                    <a:pt x="0" y="9947749"/>
                    <a:pt x="0" y="9372600"/>
                  </a:cubicBezTo>
                  <a:lnTo>
                    <a:pt x="0" y="1041400"/>
                  </a:lnTo>
                  <a:cubicBezTo>
                    <a:pt x="0" y="466251"/>
                    <a:pt x="466251" y="0"/>
                    <a:pt x="1041400" y="0"/>
                  </a:cubicBezTo>
                  <a:close/>
                </a:path>
              </a:pathLst>
            </a:custGeom>
            <a:blipFill>
              <a:blip r:embed="rId3"/>
              <a:stretch>
                <a:fillRect l="-6595" t="0" r="-6595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67825"/>
            <a:chOff x="0" y="0"/>
            <a:chExt cx="23012400" cy="12357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12357100"/>
            </a:xfrm>
            <a:custGeom>
              <a:avLst/>
              <a:gdLst/>
              <a:ahLst/>
              <a:cxnLst/>
              <a:rect r="r" b="b" t="t" l="l"/>
              <a:pathLst>
                <a:path h="123571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29000" y="704850"/>
            <a:ext cx="11430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7"/>
              </a:lnSpc>
            </a:pPr>
            <a:r>
              <a:rPr lang="en-US" b="true" sz="4247">
                <a:solidFill>
                  <a:srgbClr val="12229D"/>
                </a:solidFill>
                <a:latin typeface="Roboto Bold"/>
                <a:ea typeface="Roboto Bold"/>
                <a:cs typeface="Roboto Bold"/>
                <a:sym typeface="Roboto Bold"/>
              </a:rPr>
              <a:t>PERSPECTIVA FONOAUDIÓLOGO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62000" y="1524000"/>
            <a:ext cx="8239125" cy="7810500"/>
            <a:chOff x="0" y="0"/>
            <a:chExt cx="10985500" cy="1041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0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0985500">
                  <a:moveTo>
                    <a:pt x="1041400" y="0"/>
                  </a:moveTo>
                  <a:lnTo>
                    <a:pt x="9944100" y="0"/>
                  </a:lnTo>
                  <a:cubicBezTo>
                    <a:pt x="10519249" y="0"/>
                    <a:pt x="10985500" y="466251"/>
                    <a:pt x="10985500" y="1041400"/>
                  </a:cubicBezTo>
                  <a:lnTo>
                    <a:pt x="10985500" y="9372600"/>
                  </a:lnTo>
                  <a:cubicBezTo>
                    <a:pt x="10985500" y="9947749"/>
                    <a:pt x="10519249" y="10414000"/>
                    <a:pt x="9944100" y="10414000"/>
                  </a:cubicBezTo>
                  <a:lnTo>
                    <a:pt x="1041400" y="10414000"/>
                  </a:lnTo>
                  <a:cubicBezTo>
                    <a:pt x="466251" y="10414000"/>
                    <a:pt x="0" y="9947749"/>
                    <a:pt x="0" y="9372600"/>
                  </a:cubicBezTo>
                  <a:lnTo>
                    <a:pt x="0" y="1041400"/>
                  </a:lnTo>
                  <a:cubicBezTo>
                    <a:pt x="0" y="466251"/>
                    <a:pt x="466251" y="0"/>
                    <a:pt x="1041400" y="0"/>
                  </a:cubicBezTo>
                  <a:close/>
                </a:path>
              </a:pathLst>
            </a:custGeom>
            <a:blipFill>
              <a:blip r:embed="rId2"/>
              <a:stretch>
                <a:fillRect l="-8158" t="0" r="-815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1524000"/>
            <a:ext cx="8239125" cy="7810500"/>
            <a:chOff x="0" y="0"/>
            <a:chExt cx="10985500" cy="1041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8550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0985500">
                  <a:moveTo>
                    <a:pt x="1041400" y="0"/>
                  </a:moveTo>
                  <a:lnTo>
                    <a:pt x="9944100" y="0"/>
                  </a:lnTo>
                  <a:cubicBezTo>
                    <a:pt x="10519249" y="0"/>
                    <a:pt x="10985500" y="466251"/>
                    <a:pt x="10985500" y="1041400"/>
                  </a:cubicBezTo>
                  <a:lnTo>
                    <a:pt x="10985500" y="9372600"/>
                  </a:lnTo>
                  <a:cubicBezTo>
                    <a:pt x="10985500" y="9947749"/>
                    <a:pt x="10519249" y="10414000"/>
                    <a:pt x="9944100" y="10414000"/>
                  </a:cubicBezTo>
                  <a:lnTo>
                    <a:pt x="1041400" y="10414000"/>
                  </a:lnTo>
                  <a:cubicBezTo>
                    <a:pt x="466251" y="10414000"/>
                    <a:pt x="0" y="9947749"/>
                    <a:pt x="0" y="9372600"/>
                  </a:cubicBezTo>
                  <a:lnTo>
                    <a:pt x="0" y="1041400"/>
                  </a:lnTo>
                  <a:cubicBezTo>
                    <a:pt x="0" y="466251"/>
                    <a:pt x="466251" y="0"/>
                    <a:pt x="1041400" y="0"/>
                  </a:cubicBezTo>
                  <a:close/>
                </a:path>
              </a:pathLst>
            </a:custGeom>
            <a:blipFill>
              <a:blip r:embed="rId3"/>
              <a:stretch>
                <a:fillRect l="-28833" t="0" r="-28833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5250" cy="10287000"/>
            <a:chOff x="0" y="0"/>
            <a:chExt cx="127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7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5500" y="0"/>
            <a:ext cx="4762500" cy="10287000"/>
            <a:chOff x="0" y="0"/>
            <a:chExt cx="6350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33DFF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3371850"/>
            <a:ext cx="11430000" cy="270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b="true" sz="96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Gracias por</a:t>
            </a:r>
          </a:p>
          <a:p>
            <a:pPr algn="l">
              <a:lnSpc>
                <a:spcPts val="10560"/>
              </a:lnSpc>
            </a:pPr>
            <a:r>
              <a:rPr lang="en-US" b="true" sz="96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 atención</a:t>
            </a:r>
          </a:p>
        </p:txBody>
      </p:sp>
      <p:sp>
        <p:nvSpPr>
          <p:cNvPr name="AutoShape 9" id="9"/>
          <p:cNvSpPr/>
          <p:nvPr/>
        </p:nvSpPr>
        <p:spPr>
          <a:xfrm>
            <a:off x="1143000" y="6096000"/>
            <a:ext cx="2857500" cy="0"/>
          </a:xfrm>
          <a:prstGeom prst="line">
            <a:avLst/>
          </a:prstGeom>
          <a:ln cap="flat" w="38100">
            <a:solidFill>
              <a:srgbClr val="233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43000" y="9163050"/>
            <a:ext cx="571500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AE8FF">
                    <a:alpha val="6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Agustín Heinz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AE8FF">
                    <a:alpha val="6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Diego Sepulveda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287500" y="1428750"/>
            <a:ext cx="1714500" cy="1714500"/>
            <a:chOff x="0" y="0"/>
            <a:chExt cx="2286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511739" y="0"/>
                    <a:pt x="0" y="511739"/>
                    <a:pt x="0" y="1143000"/>
                  </a:cubicBezTo>
                  <a:cubicBezTo>
                    <a:pt x="0" y="1774261"/>
                    <a:pt x="511739" y="2286000"/>
                    <a:pt x="1143000" y="2286000"/>
                  </a:cubicBezTo>
                  <a:cubicBezTo>
                    <a:pt x="1774261" y="2286000"/>
                    <a:pt x="2286000" y="1774261"/>
                    <a:pt x="2286000" y="1143000"/>
                  </a:cubicBezTo>
                  <a:cubicBezTo>
                    <a:pt x="2286000" y="511739"/>
                    <a:pt x="1774261" y="0"/>
                    <a:pt x="1143000" y="0"/>
                  </a:cubicBezTo>
                  <a:close/>
                </a:path>
              </a:pathLst>
            </a:custGeom>
            <a:solidFill>
              <a:srgbClr val="233DFF">
                <a:alpha val="2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0000" y="3333750"/>
            <a:ext cx="1143000" cy="1143000"/>
            <a:chOff x="0" y="0"/>
            <a:chExt cx="1524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CAE8FF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097000" y="5238750"/>
            <a:ext cx="762000" cy="762000"/>
            <a:chOff x="0" y="0"/>
            <a:chExt cx="1016000" cy="101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33DFF">
                <a:alpha val="4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49500" y="6667500"/>
            <a:ext cx="1905000" cy="1905000"/>
            <a:chOff x="0" y="0"/>
            <a:chExt cx="2540000" cy="254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1270000" y="0"/>
                  </a:moveTo>
                  <a:cubicBezTo>
                    <a:pt x="568598" y="0"/>
                    <a:pt x="0" y="568598"/>
                    <a:pt x="0" y="1270000"/>
                  </a:cubicBez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lose/>
                </a:path>
              </a:pathLst>
            </a:custGeom>
            <a:solidFill>
              <a:srgbClr val="CAE8FF">
                <a:alpha val="1490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78000" y="4762500"/>
            <a:ext cx="571500" cy="571500"/>
            <a:chOff x="0" y="0"/>
            <a:chExt cx="76200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lnTo>
                    <a:pt x="762000" y="381000"/>
                  </a:lnTo>
                  <a:lnTo>
                    <a:pt x="381000" y="762000"/>
                  </a:lnTo>
                  <a:lnTo>
                    <a:pt x="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233DFF">
                <a:alpha val="4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DAHUXMnQmjw</dc:identifier>
  <dcterms:modified xsi:type="dcterms:W3CDTF">2011-08-01T06:04:30Z</dcterms:modified>
  <cp:revision>1</cp:revision>
  <dc:title>Problemática</dc:title>
</cp:coreProperties>
</file>